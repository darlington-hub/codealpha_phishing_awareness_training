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PHISHING AWARENESS &amp; SOCIAL ENGINEERING</a:t>
            </a:r>
          </a:p>
          <a:p>
            <a:pPr>
              <a:spcBef>
                <a:spcPts val="1000"/>
              </a:spcBef>
              <a:defRPr sz="2000">
                <a:solidFill>
                  <a:srgbClr val="3182CE"/>
                </a:solidFill>
              </a:defRPr>
            </a:pPr>
            <a:r>
              <a:t>Recognizing Threats, Analyzing Indicators, &amp; Defending Organizational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Prepared by: Somtochukwu Darlington Onyeka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Task 2: Phishing Awareness Training | CodeAlpha Cybersecurity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CODEALPHA CYBERSECURITY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What is Phishing &amp; Social Engineering?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• Social Engineering Definition: </a:t>
            </a:r>
            <a:r>
              <a:rPr sz="1600">
                <a:solidFill>
                  <a:srgbClr val="2D3748"/>
                </a:solidFill>
              </a:rPr>
              <a:t>The psychological manipulation of individuals into divulging confidential information or performing actions that compromise security.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• Phishing Attacks: </a:t>
            </a:r>
            <a:r>
              <a:rPr sz="1600">
                <a:solidFill>
                  <a:srgbClr val="2D3748"/>
                </a:solidFill>
              </a:rPr>
              <a:t>Fraudulent communications (via Email, SMS, or Voice) designed to impersonate trusted entities to steal login credentials, financial data, or install malware.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• Why Attackers Target Humans: </a:t>
            </a:r>
            <a:r>
              <a:rPr sz="1600">
                <a:solidFill>
                  <a:srgbClr val="2D3748"/>
                </a:solidFill>
              </a:rPr>
              <a:t>Human targets are often perceived as the path of least resistance compared to breaching perimeter firewalls or hardened servers.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• Core Impact: </a:t>
            </a:r>
            <a:r>
              <a:rPr sz="1600">
                <a:solidFill>
                  <a:srgbClr val="2D3748"/>
                </a:solidFill>
              </a:rPr>
              <a:t>Successful phishing attacks lead to ransomware infections, Business Email Compromise (BEC), operational downtime, and data breaches.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CODEALPHA CYBERSECURITY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Social Engineering Psychological Triggers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7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3E3E"/>
                </a:solidFill>
              </a:defRPr>
            </a:pPr>
            <a:r>
              <a:t>URGENCY &amp; FEAR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Creating artificial panic (e.g., 'Account locked in 15 mins') to force rapid compliance without thinking.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7FAFC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Impersonating C-level executives, IT admins, or legal authorities to demand immediate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7FAFC"/>
          </a:solidFill>
          <a:ln w="254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182CE"/>
                </a:solidFill>
              </a:defRPr>
            </a:pPr>
            <a:r>
              <a:t>CURIOSITY &amp; GREED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9260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Promising unexpected bonuses, free gifts, or exclusive internal leaks to entice link clicks.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CODEALPHA CYBERSECURITY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Email Inspection: Key Indicators of Deception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1. Spoofed Sender Domain: </a:t>
            </a:r>
            <a:r>
              <a:rPr sz="1600">
                <a:solidFill>
                  <a:srgbClr val="2D3748"/>
                </a:solidFill>
              </a:rPr>
              <a:t>Display name says 'Microsoft', but the email address is support@msft-security-update24.com.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2. Generic Greetings: </a:t>
            </a:r>
            <a:r>
              <a:rPr sz="1600">
                <a:solidFill>
                  <a:srgbClr val="2D3748"/>
                </a:solidFill>
              </a:rPr>
              <a:t>Receiving 'Dear Customer' or 'Valued User' instead of your personalized employee name.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3. Misleading Hyperlinks: </a:t>
            </a:r>
            <a:r>
              <a:rPr sz="1600">
                <a:solidFill>
                  <a:srgbClr val="2D3748"/>
                </a:solidFill>
              </a:rPr>
              <a:t>Hovering over a link displays a completely different destination URL than what is printed.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4. Dangerous Attachments: </a:t>
            </a:r>
            <a:r>
              <a:rPr sz="1600">
                <a:solidFill>
                  <a:srgbClr val="2D3748"/>
                </a:solidFill>
              </a:rPr>
              <a:t>Unexpected files ending in .exe, .scr, .zip, or macro-enabled Office files (.docm).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5. Policy Exceptions: </a:t>
            </a:r>
            <a:r>
              <a:rPr sz="1600">
                <a:solidFill>
                  <a:srgbClr val="2D3748"/>
                </a:solidFill>
              </a:rPr>
              <a:t>Requests asking you to bypass established organizational payment or verification procedures.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CODEALPHA CYBERSECURITY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Spotting Fake Websites &amp; Typosquatting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• Typosquatting Tricks: </a:t>
            </a:r>
            <a:r>
              <a:rPr sz="1600">
                <a:solidFill>
                  <a:srgbClr val="2D3748"/>
                </a:solidFill>
              </a:rPr>
              <a:t>Attackers register domain names that look almost identical to real ones (e.g., paypa1.com, micros0ft.com).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• Subdomain Manipulation: </a:t>
            </a:r>
            <a:r>
              <a:rPr sz="1600">
                <a:solidFill>
                  <a:srgbClr val="2D3748"/>
                </a:solidFill>
              </a:rPr>
              <a:t>Placing trusted brand names into subdomains (e.g., login.microsoft.com.attacker-server.net). Always read the root domain before the .com!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• The HTTPS Misconception: </a:t>
            </a:r>
            <a:r>
              <a:rPr sz="1600">
                <a:solidFill>
                  <a:srgbClr val="2D3748"/>
                </a:solidFill>
              </a:rPr>
              <a:t>A padlock icon (HTTPS) ONLY means the network connection is encrypted. It does NOT prove the website owner is legitimate!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A365D"/>
                </a:solidFill>
              </a:rPr>
              <a:t>• Golden Defense Rule: </a:t>
            </a:r>
            <a:r>
              <a:rPr sz="1600">
                <a:solidFill>
                  <a:srgbClr val="2D3748"/>
                </a:solidFill>
              </a:rPr>
              <a:t>Never click email links to log into accounts. Type the URL manually or use verified browser bookmarks.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CODEALPHA CYBERSECURITY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Best Practices &amp; Reporting Protocols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926080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STEP 1: STOP &amp; THINK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371600"/>
            <a:ext cx="7589520" cy="1005840"/>
          </a:xfrm>
          <a:prstGeom prst="rect">
            <a:avLst/>
          </a:prstGeom>
          <a:solidFill>
            <a:srgbClr val="F7FAFC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554480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Never act under emotional pressure or artificial urgency.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2926080" cy="10058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STEP 2: VERIFY OUT-OF-BAND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606040"/>
            <a:ext cx="7589520" cy="1005840"/>
          </a:xfrm>
          <a:prstGeom prst="rect">
            <a:avLst/>
          </a:prstGeom>
          <a:solidFill>
            <a:srgbClr val="F7FAF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788920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Contact the sender using known official channels, NOT contact details inside the email.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292608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STEP 3: REPORT TO SOC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840480"/>
            <a:ext cx="7589520" cy="1005840"/>
          </a:xfrm>
          <a:prstGeom prst="rect">
            <a:avLst/>
          </a:prstGeom>
          <a:solidFill>
            <a:srgbClr val="F7FAFC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4023360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Use your organization's 'Report Phishing' button or forward to security@company.com.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2926080" cy="10058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STEP 4: CONTAIN &amp; ISOLATE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5074920"/>
            <a:ext cx="7589520" cy="1005840"/>
          </a:xfrm>
          <a:prstGeom prst="rect">
            <a:avLst/>
          </a:prstGeom>
          <a:solidFill>
            <a:srgbClr val="F7FAFC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5257800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D3748"/>
                </a:solidFill>
              </a:defRPr>
            </a:pPr>
            <a:r>
              <a:t>If compromised, change passwords immediately and disconnect your system from Wi-Fi/Ethernet.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82CE"/>
                </a:solidFill>
              </a:defRPr>
            </a:pPr>
            <a:r>
              <a:t>CODEALPHA CYBERSECURITY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Knowledge Evaluation: Interactive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Scenario Challenge:</a:t>
            </a:r>
          </a:p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You receive an email from 'IT Helpdesk' stating your mailbox is full and asking you to click a link to upgrade storage. What is your best action?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A) Click the link and enter your credentials quickly to prevent email loss.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B) Reply to the email asking for confirmation from IT.</a:t>
            </a:r>
          </a:p>
          <a:p>
            <a:pPr>
              <a:spcBef>
                <a:spcPts val="600"/>
              </a:spcBef>
              <a:defRPr sz="1500" b="1">
                <a:solidFill>
                  <a:srgbClr val="16A34A"/>
                </a:solidFill>
              </a:defRPr>
            </a:pPr>
            <a:r>
              <a:t>C) Report the email using the official Phishing Reporting Tool without clicking any links.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D) Forward the email to all your coworkers to warn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